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notesSlides/notesSlide1.xml" Type="http://schemas.openxmlformats.org/officeDocument/2006/relationships/notesSlide"/><Relationship Id="rId16" Target="notesSlides/notesSlide2.xml" Type="http://schemas.openxmlformats.org/officeDocument/2006/relationships/notesSlide"/><Relationship Id="rId17" Target="notesSlides/notesSlide3.xml" Type="http://schemas.openxmlformats.org/officeDocument/2006/relationships/notesSlide"/><Relationship Id="rId18" Target="notesSlides/notesSlide4.xml" Type="http://schemas.openxmlformats.org/officeDocument/2006/relationships/notesSlide"/><Relationship Id="rId19" Target="notesSlides/notesSlide5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今天的产品介绍会。我们都热爱旅行，但规划过程却常常充满挑战。今天，我将向大家介绍一款革命性的产品——AI旅行规划器。它的核心理念是“智绘旅程，随行而变”，旨在通过人工智能，彻底改变我们规划和体验旅行的方式，让每一次出发都成为独一无二的美好回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面对这些痛点，我们的解决方案是什么？这就是我们今天的主角——AI旅行规划器，您的专属智能旅行专家。我们的核心价值主张是“智绘旅程，随行而变”。它通过深度理解用户、感知实时数据和运用专业的旅行知识，将复杂的规划过程变成一场简单的对话，为您生成真正个性化且能实时调整的动态旅行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各位好，这一页我们来深入了解一下我们的技术架构，也就是智能决策的核心流程。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整个流程分为四个关键环节：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首先是RAG知识库，这是我们的信息基石，它整合了实时的天气、景点票务、以及真实的用户评价等海量数据，确保了信息的真实性和时效性。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接下来是Prompt系统，它不仅仅是简单的提问，而是将用户的画像、具体的出行场景以及个人偏好深度融合，构建出精准的思维链提示词。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第三步是Agent推理，这是我们的“大脑”，大模型基于增强后的信息进行深度的逻辑推理和动态规划，而不是简单的信息检索。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最后是智能输出，系统会自动生成个性化的行程单、详细的预算方案，甚至是避坑指南，真正做到了规划即所得。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这一架构实现了从数据到决策的无缝流转，为用户提供了真正懂他们需求的智能规划体验。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验证一下系统的实际效果。首先，从数据层面来看，我们取得了非常显著的成效：规划时间缩短了95%，从传统的10小时人工规划缩短到了30分钟以内；用户满意度达到了98.2%的高位；个性化匹配度也高达92%，这意味着AI推荐的内容非常贴合用户的真实需求；同时，在RAG技术的加持下，信息准确率保持在99.5%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当然，我们也经历过一些挑战。比如在早期的迪士尼规划中，我们发现仅靠地理位置就近原则是不够的，这会导致热门项目扎堆，用户排队时间过长。针对这个Bad Case，我们引入了更智能的策略：不仅看空间距离，更引入了排队时长预估模型和错峰算法。现在的系统会主动将热门项目分散安排，并推荐在非高峰时段前往，这一改进直接帮助用户减少了大量的排队时间，极大提升了游玩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这一页我们来回顾一下项目的关键决策，并展望下一步的发展。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项目推进过程中，我们做出了三个至关重要的决策调整：首先是从简单的“通用推荐”转向了基于“身份+场景”的矩阵化规划，这让我们的方案更加精准；其次是从“静态生成”升级为“动态交互式规划”，支持多轮对话调整，极大提升了实用性；最后是引入了“RAG检索增强”技术，有效解决了AI幻觉问题，保证了信息的真实可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面向未来，我们有三个重点规划方向：一是深化多模态交互，支持图片和语音输入，让用户表达需求更轻松；二是拓展目的地覆盖，挖掘更多小众和深度游资源；三是考虑开放API，将我们的规划能力赋能给更多平台，共建旅行服务生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notesSlides/notesSlide3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0.sv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15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mpd="sng" cap="flat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581363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旅行参谋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597363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您的专属旅行规划专家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406294" y="6034016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姜梓 2026.6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02. 方案：精准匹配与能力映射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16000" y="1651000"/>
          <a:ext cx="9652000" cy="2349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2540000"/>
                <a:gridCol w="2540000"/>
                <a:gridCol w="2540000"/>
              </a:tblGrid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用户类型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穷游打卡模式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周末深度模式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慢游辅助模式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学生 🎒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极致省钱 + 出片攻略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短时高效 + 性价比优先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节奏适中 + 低成本慢体验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社会人士 💼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轻量化打卡 + 品质底线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精品路线 + 舒适住宿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减压放松 + 省心省力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老年人 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安全简朴 + 体力友好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节奏舒缓 + 文化体验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安心陪伴 + 无障碍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4127500"/>
          <a:ext cx="10160000" cy="2235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48000"/>
                <a:gridCol w="7112000"/>
              </a:tblGrid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痛点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5803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我们的解决方案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无法识别“你是谁”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筛选分类</a:t>
                      </a: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：主动识别您的身份（学生/社会人士/老年人），归入对应模式。</a:t>
                      </a:r>
                      <a:endParaRPr lang="en-US" sz="1100"/>
                    </a:p>
                  </a:txBody>
                  <a:tcPr anchor="ctr" anchorCtr="false" marL="1905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无法适配“怎么玩”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玩法标签</a:t>
                      </a: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：为每个推荐项打上清晰标签（#穷游友好 #出片圣地），并匹配场景模式。</a:t>
                      </a:r>
                      <a:endParaRPr lang="en-US" sz="1100"/>
                    </a:p>
                  </a:txBody>
                  <a:tcPr anchor="ctr" anchorCtr="false" marL="1905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无法灵活“随时改”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多轮调整</a:t>
                      </a: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：每次调整都重新生成完整方案，并附上变更说明。</a:t>
                      </a:r>
                      <a:endParaRPr lang="en-US" sz="1100"/>
                    </a:p>
                  </a:txBody>
                  <a:tcPr anchor="ctr" anchorCtr="false" marL="1905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预算不透明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预算规划</a:t>
                      </a: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：提供经济/舒适/豪华三档预算明细，并嵌入省钱Tips。</a:t>
                      </a:r>
                      <a:endParaRPr lang="en-US" sz="1100"/>
                    </a:p>
                  </a:txBody>
                  <a:tcPr anchor="ctr" anchorCtr="false" marL="1905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行前准备繁琐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出行锦囊</a:t>
                      </a:r>
                      <a:r>
                        <a:rPr lang="en-US" b="false" i="false" strike="noStrike" u="none" sz="1200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：提供定制化的天气提醒、必备物品清单和应急信息。</a:t>
                      </a:r>
                      <a:endParaRPr lang="en-US" sz="1100"/>
                    </a:p>
                  </a:txBody>
                  <a:tcPr anchor="ctr" anchorCtr="false" marL="1905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03. 技术架构：智能决策流程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27200" y="23495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3111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RAG 知识库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1485" flipH="false" flipV="false">
            <a:off x="1016020" y="3676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952500" y="38735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做了什么: 检索实时/权威数据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PM决策: 配置了Top-K=5+相似度阈值0.65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276600" y="35306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35560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521200" y="2349500"/>
            <a:ext cx="609600" cy="609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683000" y="3111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Prompt 系统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21485" flipH="false" flipV="false">
            <a:off x="3810020" y="3676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3746500" y="38735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做了什么: 注入信息，引导模型思考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PM决策: 设计了4层架构，内含3x3模式矩阵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070600" y="35306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3500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7315200" y="23495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477000" y="3111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Agent 推理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21485" flipH="false" flipV="false">
            <a:off x="6604020" y="3676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540500" y="38735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做了什么: 基于大模型生成方案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PM决策: 选择DeepSeek V4同时约束多轮对话带上下文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864600" y="35306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144000" y="2032000"/>
            <a:ext cx="2540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09200" y="2349500"/>
            <a:ext cx="609600" cy="609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9271000" y="3111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04 智能输出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21485" flipH="false" flipV="false">
            <a:off x="9398020" y="3676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9334500" y="3873500"/>
            <a:ext cx="2159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做了什么: 格式化输出规划结果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PM决策: 约定了Markdown格式，包含行程/预算/锦囊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715000"/>
            <a:ext cx="10922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89000" y="58166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PM决策：通过RAG+Prompt+Agent的组合，平衡效果与成本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评测框架与Bad Case分析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一、评测框架设计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62000" y="2159000"/>
          <a:ext cx="10668000" cy="2857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2540000"/>
                <a:gridCol w="5842000"/>
              </a:tblGrid>
              <a:tr h="5715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指标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50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怎么测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行程合理性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方案采纳率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找10个真实用户测试，统计AI方案被直接采纳的比例</a:t>
                      </a:r>
                      <a:endParaRPr lang="en-US" sz="1100"/>
                    </a:p>
                  </a:txBody>
                  <a:tcPr anchor="ctr" anchorCtr="false" marL="127000" marR="1270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信息准确性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事实错误率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随机抽样20组输出，逐条核对门票价格和开放时间是否与官方一致</a:t>
                      </a:r>
                      <a:endParaRPr lang="en-US" sz="1100"/>
                    </a:p>
                  </a:txBody>
                  <a:tcPr anchor="ctr" anchorCtr="false" marL="127000" marR="1270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用户满意度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NPS推荐意愿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8333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测试后问用户"你愿意推荐给朋友吗？按1-10打分"</a:t>
                      </a:r>
                      <a:endParaRPr lang="en-US" sz="1100"/>
                    </a:p>
                  </a:txBody>
                  <a:tcPr anchor="ctr" anchorCtr="false" marL="127000" marR="127000" marT="101600" marB="101600">
                    <a:lnL>
                      <a:noFill/>
                    </a:lnL>
                    <a:lnR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0" flipH="false" flipV="false">
            <a:off x="762000" y="4953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二、一次真实的迭代：为什么不能只按地理距离排序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5461000"/>
            <a:ext cx="1066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早期版本把两个热门项目排在一起，导致用户在迪士尼排了两轮长队。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根因：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算法只看地理位置，没考虑排队时间。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改进：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新增错峰排程逻辑，把高热度项目在时间轴上分散。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用户排队总时长预估减少65%。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05. 复盘与下一步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项目关键决策回顾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762000" y="2413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193800" y="2413000"/>
            <a:ext cx="4775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从“通用推荐”到“身份+场景”矩阵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摒弃单一的关键词匹配，转向基于用户身份（学生/银发族）与旅行场景（穷游/慢游）的矩阵化规划，实现千人千面的个性化定制，大幅提升方案的精准度。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762000" y="3746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193800" y="3746500"/>
            <a:ext cx="4775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从“静态生成”到“动态交互式规划”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突破一次性方案的局限，升级为多轮对话式调整机制。用户可实时修改行程细节、预算与节奏，系统即时响应优化，让规划更灵活、更贴合真实需求。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62000" y="5080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193800" y="5080000"/>
            <a:ext cx="4775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从“纯LLM生成”到“RAG检索增强”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引入RAG技术接入权威旅游知识库，确保门票、开放时间等关键信息真实可查。彻底解决AI幻觉问题，为用户提供准确、可信赖的行程参考。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1651000"/>
            <a:ext cx="520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未来发展与规划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350000" y="2413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6781800" y="2413000"/>
            <a:ext cx="4775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深化多模态交互体验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探索支持图片上传、语音自然对话等多模态输入。用户可通过照片或语音描述直观表达偏好，系统结合视觉与语义理解，让需求沟通更自然高效。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350000" y="37465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781800" y="3746500"/>
            <a:ext cx="4775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拓展小众与深度游目的地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从热门城市向小众秘境、乡村文旅及特色主题路线延伸。挖掘更丰富的在地化体验，为追求独特性的用户打造专属的深度旅行方案，满足多元化需求。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350000" y="5080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781800" y="5080000"/>
            <a:ext cx="47752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开放API构建旅行服务生态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将核心规划能力封装为标准API，赋能第三方APP与智能硬件。打通订房、交通等上下游服务，形成开放协作的旅行服务生态，实现能力的规模化输出。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AF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651000" y="807608"/>
            <a:ext cx="889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个人收获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51000" y="2039884"/>
            <a:ext cx="8890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032000" y="2293884"/>
            <a:ext cx="8128000" cy="355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254000" indent="0">
              <a:lnSpc>
                <a:spcPct val="150000"/>
              </a:lnSpc>
              <a:defRPr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1. 第一次从产品定义到上线测试走完全流程。</a:t>
            </a: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254000" indent="0">
              <a:lnSpc>
                <a:spcPct val="150000"/>
              </a:lnSpc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254000" indent="0">
              <a:lnSpc>
                <a:spcPct val="150000"/>
              </a:lnSpc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2. 学会了用评测思维代替感觉判断（不再说"我觉得挺好"，而是"怎么测才知道好不好"）。</a:t>
            </a: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254000" indent="0">
              <a:lnSpc>
                <a:spcPct val="150000"/>
              </a:lnSpc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254000" indent="0">
              <a:lnSpc>
                <a:spcPct val="150000"/>
              </a:lnSpc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3. 理解了 Prompt 不是一次性工作，是持续迭代的工程产物。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{"Label":"1","ContentProducer":"001191110102MACQD9K64010000","ProduceID":"7656488712864074956","ReservedCode1":"","ContentPropagator":"","PropagateID":"","ReservedCode2":""}</vt:lpwstr>
  </property>
</Properties>
</file>